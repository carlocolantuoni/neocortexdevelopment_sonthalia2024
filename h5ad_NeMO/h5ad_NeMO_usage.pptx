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1" r:id="rId3"/>
    <p:sldId id="266" r:id="rId4"/>
    <p:sldId id="268" r:id="rId5"/>
    <p:sldId id="269" r:id="rId6"/>
    <p:sldId id="267" r:id="rId7"/>
    <p:sldId id="270" r:id="rId8"/>
    <p:sldId id="261" r:id="rId9"/>
    <p:sldId id="260" r:id="rId10"/>
    <p:sldId id="265" r:id="rId11"/>
    <p:sldId id="257" r:id="rId12"/>
    <p:sldId id="273" r:id="rId13"/>
    <p:sldId id="272" r:id="rId14"/>
    <p:sldId id="274" r:id="rId15"/>
    <p:sldId id="26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02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101A8-D784-ED37-D179-50F1FD14B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12BFC9-683C-E59D-2B40-D96885AD3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FE10BC-5602-7F31-40CE-F0C28417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E11F7-337C-7824-F794-680BDF58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72BBA-0E4F-CEF6-1F45-6D8AC633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9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B8F53-8550-0D3A-9256-E808A4C9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48F60-2553-DA07-86C2-18F5A5436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EEE8A-1BA4-5390-1126-A07E6E79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9CACA-11F8-B301-F7D3-4DBAD688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31AF5-F6EF-9BDC-489E-F2072ADC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38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3BA78-A192-DC93-3BA3-8A9C4E71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CEC3A-B623-496C-EAEC-A5165E179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629404-268A-4E3B-5ABD-1F6BA770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4131B-0231-2CF6-C1AA-F7698A99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E53DA-95B0-D7F1-6457-559A9FF2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2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C8CA2-B366-8800-7875-AC5FEFB0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A561B0-C086-C774-DE22-E79FA6D3E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4C5FC1-4F13-776B-803F-4149C242E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BC826A-C8AC-9E7A-9E5B-AF29F25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589EDF-6472-C48C-601D-04D93EB9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EF208-46BA-E998-2FF0-AB492EE0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41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95CD3-3BA1-A39C-01B2-94A62AC3D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6A664-B04D-8D70-73CC-13997B79B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296B4E-45AC-BC19-36B3-B2E3F138D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A7B905-87FA-E174-B8E4-EA397C4B5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2A81C3-4C82-7295-EACC-ADC74105D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F50ABD-69A8-C187-DBFE-39F1E94B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23F326-3D39-CF23-1C35-B5AD5995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A91653-B271-7666-D5B8-14E4BF0C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93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25162-19A8-2D42-6779-A780FFC8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A583CA-2E61-D6F6-A5E3-BAD5D0F7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F323A3-F543-CF4C-1423-F296C936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D1BCF9-BDD8-08DD-7FB9-CBD8759C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7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35C9CA-64A0-BADF-9066-7A056506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95DB33-91BE-2296-1BD8-43B2C610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87B610-DEB7-18AA-F59D-A6CD4FEB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5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419CA-26D3-7EFF-4983-EC74AE68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9C4F4-1068-C567-52C4-EDD4B45F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BF3533-0778-2F3C-EB32-0407AD7D9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2A5F8-436E-6C96-487D-446E6F75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8EAE0F-6F73-3FE0-B3E9-880103B4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D2F44D-056D-FDB4-19CE-3B1C6B0D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58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B8080-E7D4-8087-0391-042D07A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978112-FF9B-54F5-633E-053C6AE8E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1C68D4-E38F-DF15-45D3-5A3FB6F50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7B3753-B2AB-2295-1E6E-264FCF37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F669FD-93E5-E25F-CBE8-E6D63017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04ECA0-DD25-FE33-BC5E-F532D9DB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12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7112D-A19B-5C5A-715C-9709ADC5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AD081A-6EC1-8ABB-344D-7B1C4FEA6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84484-F120-51A8-C82A-3135CAB8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ECE1AA-A7E4-FD1D-5916-12583C15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8D818-3FA8-721E-3401-1CFE1480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48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E54675-B3DC-168D-21C2-D344C20ED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54DF9-6847-0948-2B67-34E990B95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0ED09-B1AC-0102-57C0-42D48D56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3744DE-BEC6-5CF3-E332-048C3D93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7B3C4-E170-6159-B204-A005A3F7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56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35B848-4870-E707-C143-20EAB2A8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32A18B-1B76-5FE5-1EEB-3FEE96C80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4FA7F-2664-D516-9EEB-9E27F50AC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D140-48DB-4E6A-A5AC-001A640FB7C9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7D52C-8FD7-6443-7C00-16220E0D7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C806F-F7C8-003E-F61D-7C72585C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C4895-72DF-4782-BBD2-4583BE9D4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A3B8-2AE3-EB2C-4FB8-0AB7C38D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A12148F-7C23-265B-0170-0EE5C7DD18C4}"/>
              </a:ext>
            </a:extLst>
          </p:cNvPr>
          <p:cNvSpPr txBox="1"/>
          <p:nvPr/>
        </p:nvSpPr>
        <p:spPr>
          <a:xfrm>
            <a:off x="5358101" y="2113390"/>
            <a:ext cx="4655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 the main script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7FD173-1646-8E6A-AA69-7A7793430DD5}"/>
              </a:ext>
            </a:extLst>
          </p:cNvPr>
          <p:cNvSpPr txBox="1"/>
          <p:nvPr/>
        </p:nvSpPr>
        <p:spPr>
          <a:xfrm>
            <a:off x="5455265" y="2593339"/>
            <a:ext cx="4348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script for ‘viewing h5ad file structure’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008E9A-DC10-0A44-8536-95B8ADACE36F}"/>
              </a:ext>
            </a:extLst>
          </p:cNvPr>
          <p:cNvSpPr txBox="1"/>
          <p:nvPr/>
        </p:nvSpPr>
        <p:spPr>
          <a:xfrm>
            <a:off x="864617" y="4223911"/>
            <a:ext cx="10667777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can handle h5ad files of any size, 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regardless of memory constraints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. 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    (fully memory-adaptive and ensures successful processing even for extremely large datasets)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The optimal memory allocation is between </a:t>
            </a:r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50G and 100G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Support filtering and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downsampling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E47220-165D-FD49-6E55-1A43416AC0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8"/>
          <a:stretch/>
        </p:blipFill>
        <p:spPr>
          <a:xfrm>
            <a:off x="1168266" y="505936"/>
            <a:ext cx="4189835" cy="3570415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1A8BA79-CE14-E1A9-DD1E-17ED13908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08040"/>
              </p:ext>
            </p:extLst>
          </p:nvPr>
        </p:nvGraphicFramePr>
        <p:xfrm>
          <a:off x="5410661" y="1631856"/>
          <a:ext cx="3317488" cy="396240"/>
        </p:xfrm>
        <a:graphic>
          <a:graphicData uri="http://schemas.openxmlformats.org/drawingml/2006/table">
            <a:tbl>
              <a:tblPr/>
              <a:tblGrid>
                <a:gridCol w="3317488">
                  <a:extLst>
                    <a:ext uri="{9D8B030D-6E8A-4147-A177-3AD203B41FA5}">
                      <a16:colId xmlns:a16="http://schemas.microsoft.com/office/drawing/2014/main" val="3317413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the execution 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25278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4484593-129E-A4CD-92A0-7BA2EF48FC6D}"/>
              </a:ext>
            </a:extLst>
          </p:cNvPr>
          <p:cNvSpPr txBox="1"/>
          <p:nvPr/>
        </p:nvSpPr>
        <p:spPr>
          <a:xfrm>
            <a:off x="5455265" y="3568634"/>
            <a:ext cx="4348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script for setting up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9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957FCF-6C3D-CDB5-BE1C-F1544BFCC675}"/>
              </a:ext>
            </a:extLst>
          </p:cNvPr>
          <p:cNvSpPr txBox="1"/>
          <p:nvPr/>
        </p:nvSpPr>
        <p:spPr>
          <a:xfrm>
            <a:off x="194846" y="214234"/>
            <a:ext cx="8703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1. Use</a:t>
            </a:r>
            <a:r>
              <a:rPr lang="en-US" altLang="zh-CN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808080"/>
                </a:highlight>
                <a:latin typeface="Aptos" panose="020B0004020202020204" pitchFamily="34" charset="0"/>
              </a:rPr>
              <a:t> install.py </a:t>
            </a:r>
            <a:r>
              <a:rPr lang="en-US" altLang="zh-CN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to set up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4B519-990C-304C-4A6A-5E5B9508F35A}"/>
              </a:ext>
            </a:extLst>
          </p:cNvPr>
          <p:cNvSpPr txBox="1"/>
          <p:nvPr/>
        </p:nvSpPr>
        <p:spPr>
          <a:xfrm>
            <a:off x="646769" y="1045231"/>
            <a:ext cx="8995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This is a </a:t>
            </a:r>
            <a:r>
              <a:rPr lang="en-US" altLang="zh-CN" b="1" dirty="0"/>
              <a:t>one-time installation script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It installs all required dependencies into the user's local directory.</a:t>
            </a:r>
            <a:br>
              <a:rPr lang="en-US" altLang="zh-CN" dirty="0"/>
            </a:br>
            <a:r>
              <a:rPr lang="en-US" altLang="zh-CN" b="1" dirty="0">
                <a:solidFill>
                  <a:srgbClr val="C00000"/>
                </a:solidFill>
              </a:rPr>
              <a:t>You only need to run it the first time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before using the pipeline.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D8195D-FF23-2154-A45C-EDCFD1380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" y="2424979"/>
            <a:ext cx="10404905" cy="22929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357CBAF-F083-F849-5016-E4D6708230F0}"/>
              </a:ext>
            </a:extLst>
          </p:cNvPr>
          <p:cNvSpPr txBox="1"/>
          <p:nvPr/>
        </p:nvSpPr>
        <p:spPr>
          <a:xfrm>
            <a:off x="1063379" y="5409890"/>
            <a:ext cx="926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setup</a:t>
            </a:r>
            <a:r>
              <a:rPr lang="zh-CN" altLang="en-US" dirty="0"/>
              <a:t>_py=/dcs05/carlo/legacy-dcl01-ccolantu/data/Rfunctions/h5ad_NeMO/</a:t>
            </a:r>
            <a:r>
              <a:rPr lang="en-US" altLang="zh-CN" dirty="0"/>
              <a:t>install</a:t>
            </a:r>
            <a:r>
              <a:rPr lang="zh-CN" altLang="en-US" dirty="0"/>
              <a:t>.py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35CCE7-72F6-558D-15C6-07D87386A7E3}"/>
              </a:ext>
            </a:extLst>
          </p:cNvPr>
          <p:cNvSpPr txBox="1"/>
          <p:nvPr/>
        </p:nvSpPr>
        <p:spPr>
          <a:xfrm>
            <a:off x="1063379" y="5756348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python $</a:t>
            </a:r>
            <a:r>
              <a:rPr lang="en-US" altLang="zh-CN" dirty="0"/>
              <a:t>setup</a:t>
            </a:r>
            <a:r>
              <a:rPr lang="zh-CN" altLang="en-US" dirty="0"/>
              <a:t>_py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E378AF-E3A2-8C92-B0F9-B2C7167781D1}"/>
              </a:ext>
            </a:extLst>
          </p:cNvPr>
          <p:cNvSpPr txBox="1"/>
          <p:nvPr/>
        </p:nvSpPr>
        <p:spPr>
          <a:xfrm>
            <a:off x="710862" y="5040558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u="sng" dirty="0"/>
              <a:t>Linux Command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13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EAB45C-DCD9-325D-FD8D-200028C1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4" y="846883"/>
            <a:ext cx="10300967" cy="21708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CC72781-79BA-FD2C-A339-3F2933FEC427}"/>
              </a:ext>
            </a:extLst>
          </p:cNvPr>
          <p:cNvSpPr txBox="1"/>
          <p:nvPr/>
        </p:nvSpPr>
        <p:spPr>
          <a:xfrm>
            <a:off x="194846" y="214234"/>
            <a:ext cx="8703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2. Use</a:t>
            </a:r>
            <a:r>
              <a:rPr lang="en-US" altLang="zh-CN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808080"/>
                </a:highlight>
                <a:latin typeface="Aptos" panose="020B0004020202020204" pitchFamily="34" charset="0"/>
              </a:rPr>
              <a:t> h5ad_info.py </a:t>
            </a:r>
            <a:r>
              <a:rPr lang="en-US" altLang="zh-CN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to inspect the h5ad.file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B9931D-39CB-10A5-6C31-4F6D5E60CDCB}"/>
              </a:ext>
            </a:extLst>
          </p:cNvPr>
          <p:cNvSpPr txBox="1"/>
          <p:nvPr/>
        </p:nvSpPr>
        <p:spPr>
          <a:xfrm>
            <a:off x="1063379" y="3506753"/>
            <a:ext cx="926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info_py=/dcs05/carlo/legacy-dcl01-ccolantu/data/Rfunctions/h5ad_NeMO/h5ad_info.py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50043E-A78D-D099-15FA-968CE235FD6F}"/>
              </a:ext>
            </a:extLst>
          </p:cNvPr>
          <p:cNvSpPr txBox="1"/>
          <p:nvPr/>
        </p:nvSpPr>
        <p:spPr>
          <a:xfrm>
            <a:off x="1063379" y="385321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python $info_py </a:t>
            </a:r>
            <a:r>
              <a:rPr lang="en-US" altLang="zh-CN" dirty="0"/>
              <a:t>–</a:t>
            </a:r>
            <a:r>
              <a:rPr lang="en-US" altLang="zh-CN" dirty="0" err="1"/>
              <a:t>i</a:t>
            </a:r>
            <a:r>
              <a:rPr lang="en-US" altLang="zh-CN" dirty="0"/>
              <a:t> {your_h5ad_file}</a:t>
            </a:r>
            <a:r>
              <a:rPr lang="zh-CN" altLang="en-US" dirty="0"/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795CDC-248B-2CDE-0267-51C446C7F7B1}"/>
              </a:ext>
            </a:extLst>
          </p:cNvPr>
          <p:cNvSpPr txBox="1"/>
          <p:nvPr/>
        </p:nvSpPr>
        <p:spPr>
          <a:xfrm>
            <a:off x="710862" y="313742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u="sng" dirty="0"/>
              <a:t>Linux Command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54CCD5-02C7-BB85-3ADC-F07D39DF3086}"/>
              </a:ext>
            </a:extLst>
          </p:cNvPr>
          <p:cNvSpPr txBox="1"/>
          <p:nvPr/>
        </p:nvSpPr>
        <p:spPr>
          <a:xfrm>
            <a:off x="767114" y="4569001"/>
            <a:ext cx="91071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u="sng" dirty="0"/>
              <a:t>How to check the output</a:t>
            </a:r>
            <a:r>
              <a:rPr lang="en-US" altLang="zh-CN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In the </a:t>
            </a:r>
            <a:r>
              <a:rPr lang="en-US" altLang="zh-CN" b="1" dirty="0"/>
              <a:t>"X MATRIX"</a:t>
            </a:r>
            <a:r>
              <a:rPr lang="en-US" altLang="zh-CN" dirty="0"/>
              <a:t> section, check whether the data type is as expected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In the </a:t>
            </a:r>
            <a:r>
              <a:rPr lang="en-US" altLang="zh-CN" b="1" dirty="0"/>
              <a:t>"OBSERVATIONS (</a:t>
            </a:r>
            <a:r>
              <a:rPr lang="en-US" altLang="zh-CN" b="1" dirty="0" err="1"/>
              <a:t>obs</a:t>
            </a:r>
            <a:r>
              <a:rPr lang="en-US" altLang="zh-CN" b="1" dirty="0"/>
              <a:t>)"</a:t>
            </a:r>
            <a:r>
              <a:rPr lang="en-US" altLang="zh-CN" dirty="0"/>
              <a:t> section, locate the column that stores </a:t>
            </a:r>
            <a:r>
              <a:rPr lang="en-US" altLang="zh-CN" b="1" dirty="0"/>
              <a:t>cell identifiers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In the </a:t>
            </a:r>
            <a:r>
              <a:rPr lang="en-US" altLang="zh-CN" b="1" dirty="0"/>
              <a:t>"VARIABLES (var)"</a:t>
            </a:r>
            <a:r>
              <a:rPr lang="en-US" altLang="zh-CN" dirty="0"/>
              <a:t> section, locate the column names that correspond to </a:t>
            </a:r>
            <a:r>
              <a:rPr lang="en-US" altLang="zh-CN" b="1" dirty="0" err="1"/>
              <a:t>Ensembl</a:t>
            </a:r>
            <a:r>
              <a:rPr lang="en-US" altLang="zh-CN" b="1" dirty="0"/>
              <a:t> IDs</a:t>
            </a:r>
            <a:r>
              <a:rPr lang="en-US" altLang="zh-CN" dirty="0"/>
              <a:t> and </a:t>
            </a:r>
            <a:r>
              <a:rPr lang="en-US" altLang="zh-CN" b="1" dirty="0"/>
              <a:t>gene symbols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266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E33BAF-1FED-034F-D741-E02B88025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684444"/>
            <a:ext cx="7569517" cy="29048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73FB50-0E4E-3CCC-0378-F26EBEE790C6}"/>
              </a:ext>
            </a:extLst>
          </p:cNvPr>
          <p:cNvSpPr txBox="1"/>
          <p:nvPr/>
        </p:nvSpPr>
        <p:spPr>
          <a:xfrm>
            <a:off x="624430" y="691516"/>
            <a:ext cx="7979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- In the </a:t>
            </a:r>
            <a:r>
              <a:rPr lang="en-US" altLang="zh-CN" b="1" dirty="0"/>
              <a:t>"X MATRIX"</a:t>
            </a:r>
            <a:r>
              <a:rPr lang="en-US" altLang="zh-CN" dirty="0"/>
              <a:t> section, check whether the data type is as expected.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89AF85-1CBF-9255-3121-735814B05D3B}"/>
              </a:ext>
            </a:extLst>
          </p:cNvPr>
          <p:cNvSpPr/>
          <p:nvPr/>
        </p:nvSpPr>
        <p:spPr>
          <a:xfrm>
            <a:off x="685799" y="3896940"/>
            <a:ext cx="5567715" cy="2270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42D06C-859C-740B-99F9-5E48E72B2534}"/>
              </a:ext>
            </a:extLst>
          </p:cNvPr>
          <p:cNvSpPr txBox="1"/>
          <p:nvPr/>
        </p:nvSpPr>
        <p:spPr>
          <a:xfrm>
            <a:off x="1838006" y="4776609"/>
            <a:ext cx="7318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this sample, it contains </a:t>
            </a:r>
            <a:r>
              <a:rPr lang="en-US" altLang="zh-CN" b="1" dirty="0"/>
              <a:t>raw counts</a:t>
            </a:r>
            <a:r>
              <a:rPr lang="en-US" altLang="zh-CN" dirty="0"/>
              <a:t>. </a:t>
            </a:r>
            <a:br>
              <a:rPr lang="en-US" altLang="zh-CN" dirty="0"/>
            </a:br>
            <a:r>
              <a:rPr lang="en-US" altLang="zh-CN" dirty="0"/>
              <a:t>If </a:t>
            </a:r>
            <a:r>
              <a:rPr lang="en-US" altLang="zh-CN" b="1" dirty="0"/>
              <a:t>log-normalized</a:t>
            </a:r>
            <a:r>
              <a:rPr lang="en-US" altLang="zh-CN" dirty="0"/>
              <a:t> data is required, additional processing is needed.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270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859EAF-8BF8-0596-F44D-68CDB9AA8D9F}"/>
              </a:ext>
            </a:extLst>
          </p:cNvPr>
          <p:cNvSpPr txBox="1"/>
          <p:nvPr/>
        </p:nvSpPr>
        <p:spPr>
          <a:xfrm>
            <a:off x="576868" y="516057"/>
            <a:ext cx="88494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dirty="0"/>
              <a:t>In the </a:t>
            </a:r>
            <a:r>
              <a:rPr lang="en-US" altLang="zh-CN" b="1" dirty="0"/>
              <a:t>"OBSERVATIONS (</a:t>
            </a:r>
            <a:r>
              <a:rPr lang="en-US" altLang="zh-CN" b="1" dirty="0" err="1"/>
              <a:t>obs</a:t>
            </a:r>
            <a:r>
              <a:rPr lang="en-US" altLang="zh-CN" b="1" dirty="0"/>
              <a:t>)"</a:t>
            </a:r>
            <a:r>
              <a:rPr lang="en-US" altLang="zh-CN" dirty="0"/>
              <a:t> section, locate the column that stores </a:t>
            </a:r>
            <a:r>
              <a:rPr lang="en-US" altLang="zh-CN" b="1" dirty="0"/>
              <a:t>cell identifiers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88B281-D02B-3B27-0983-34072C99C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00" y="1154240"/>
            <a:ext cx="8179762" cy="508700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1115300-39A5-272F-4A31-5E64D98769BF}"/>
              </a:ext>
            </a:extLst>
          </p:cNvPr>
          <p:cNvSpPr/>
          <p:nvPr/>
        </p:nvSpPr>
        <p:spPr>
          <a:xfrm>
            <a:off x="693999" y="3000950"/>
            <a:ext cx="8179761" cy="6627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162F44-F08C-EF6B-B0FC-E8DA4C9B5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849" y="2374003"/>
            <a:ext cx="25038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/>
              <a:t>In this sample, the column name is </a:t>
            </a:r>
            <a:r>
              <a:rPr lang="zh-CN" altLang="zh-CN" i="1" dirty="0"/>
              <a:t>_index </a:t>
            </a:r>
          </a:p>
        </p:txBody>
      </p:sp>
    </p:spTree>
    <p:extLst>
      <p:ext uri="{BB962C8B-B14F-4D97-AF65-F5344CB8AC3E}">
        <p14:creationId xmlns:p14="http://schemas.microsoft.com/office/powerpoint/2010/main" val="424700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D11438-C1C0-6357-8A5C-DA059EE4B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16" y="1369382"/>
            <a:ext cx="8601925" cy="42581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C6BF165-B0D9-BEC3-F5B5-D36F906AA886}"/>
              </a:ext>
            </a:extLst>
          </p:cNvPr>
          <p:cNvSpPr txBox="1"/>
          <p:nvPr/>
        </p:nvSpPr>
        <p:spPr>
          <a:xfrm>
            <a:off x="698074" y="464463"/>
            <a:ext cx="85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dirty="0"/>
              <a:t>In the </a:t>
            </a:r>
            <a:r>
              <a:rPr lang="en-US" altLang="zh-CN" b="1" dirty="0"/>
              <a:t>"VARIABLES (var)"</a:t>
            </a:r>
            <a:r>
              <a:rPr lang="en-US" altLang="zh-CN" dirty="0"/>
              <a:t> section, locate the column names that correspond to </a:t>
            </a:r>
            <a:r>
              <a:rPr lang="en-US" altLang="zh-CN" b="1" dirty="0" err="1"/>
              <a:t>Ensembl</a:t>
            </a:r>
            <a:r>
              <a:rPr lang="en-US" altLang="zh-CN" b="1" dirty="0"/>
              <a:t> IDs</a:t>
            </a:r>
            <a:r>
              <a:rPr lang="en-US" altLang="zh-CN" dirty="0"/>
              <a:t> and </a:t>
            </a:r>
            <a:r>
              <a:rPr lang="en-US" altLang="zh-CN" b="1" dirty="0"/>
              <a:t>gene symbols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4D303A-F0F5-8CE2-9930-8D659997F75B}"/>
              </a:ext>
            </a:extLst>
          </p:cNvPr>
          <p:cNvSpPr txBox="1"/>
          <p:nvPr/>
        </p:nvSpPr>
        <p:spPr>
          <a:xfrm>
            <a:off x="1004919" y="5812494"/>
            <a:ext cx="736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this sample, the column names are simply </a:t>
            </a:r>
            <a:r>
              <a:rPr lang="en-US" altLang="zh-CN" i="1" dirty="0" err="1"/>
              <a:t>ensembl</a:t>
            </a:r>
            <a:r>
              <a:rPr lang="en-US" altLang="zh-CN" dirty="0"/>
              <a:t> and </a:t>
            </a:r>
            <a:r>
              <a:rPr lang="en-US" altLang="zh-CN" i="1" dirty="0"/>
              <a:t>symbol</a:t>
            </a:r>
            <a:endParaRPr lang="zh-CN" altLang="en-US" i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A08879-D4F7-64F3-0F1B-B80C0CF886CA}"/>
              </a:ext>
            </a:extLst>
          </p:cNvPr>
          <p:cNvSpPr/>
          <p:nvPr/>
        </p:nvSpPr>
        <p:spPr>
          <a:xfrm>
            <a:off x="797516" y="4308113"/>
            <a:ext cx="8601925" cy="12764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31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DCFDF6E-3712-B4B2-D52F-D4F606DA7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55" y="713753"/>
            <a:ext cx="7725576" cy="59697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AE5EDA-F37F-4BD9-27F8-8CF01BDEE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66" y="174485"/>
            <a:ext cx="9171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3. M</a:t>
            </a:r>
            <a:r>
              <a:rPr lang="zh-CN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odify arguments in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808080"/>
                </a:highlight>
                <a:latin typeface="Aptos" panose="020B0004020202020204" pitchFamily="34" charset="0"/>
              </a:rPr>
              <a:t> r</a:t>
            </a:r>
            <a:r>
              <a:rPr lang="zh-CN" altLang="zh-CN" sz="2400" b="1" dirty="0">
                <a:solidFill>
                  <a:srgbClr val="000000"/>
                </a:solidFill>
                <a:highlight>
                  <a:srgbClr val="808080"/>
                </a:highlight>
                <a:latin typeface="Aptos" panose="020B0004020202020204" pitchFamily="34" charset="0"/>
              </a:rPr>
              <a:t>un.py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808080"/>
                </a:highlight>
                <a:latin typeface="Aptos" panose="020B0004020202020204" pitchFamily="34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, then execute from the terminal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11C1A4-1601-4BE8-BA3F-322F48463172}"/>
              </a:ext>
            </a:extLst>
          </p:cNvPr>
          <p:cNvSpPr txBox="1"/>
          <p:nvPr/>
        </p:nvSpPr>
        <p:spPr>
          <a:xfrm>
            <a:off x="8361033" y="1205440"/>
            <a:ext cx="38309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Consider that manually editing parameters inside function scripts was inconvenient, run.py is created to simplify usage.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u="sng" dirty="0"/>
              <a:t>You can copy it to any working directory</a:t>
            </a:r>
            <a:r>
              <a:rPr lang="en-US" altLang="zh-CN" dirty="0"/>
              <a:t>, set parameters in one place, and call the core functions without modifying the original codebase.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120188-DD84-59B5-EB85-CE5DDF08C01E}"/>
              </a:ext>
            </a:extLst>
          </p:cNvPr>
          <p:cNvSpPr txBox="1"/>
          <p:nvPr/>
        </p:nvSpPr>
        <p:spPr>
          <a:xfrm>
            <a:off x="8361033" y="4637052"/>
            <a:ext cx="3874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Overall approach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br>
              <a:rPr lang="en-US" altLang="zh-CN" dirty="0">
                <a:solidFill>
                  <a:srgbClr val="C00000"/>
                </a:solidFill>
              </a:rPr>
            </a:br>
            <a:r>
              <a:rPr lang="en-US" altLang="zh-CN" dirty="0">
                <a:solidFill>
                  <a:srgbClr val="C00000"/>
                </a:solidFill>
              </a:rPr>
              <a:t>provide the path to the h5ad file along with additional textual information.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836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2950-A60C-8F7E-6CAF-305AF3B2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3426313-A44F-0B7C-C018-57AE21E8EAA6}"/>
              </a:ext>
            </a:extLst>
          </p:cNvPr>
          <p:cNvSpPr txBox="1"/>
          <p:nvPr/>
        </p:nvSpPr>
        <p:spPr>
          <a:xfrm>
            <a:off x="615937" y="443567"/>
            <a:ext cx="11189488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altLang="zh-CN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Five new parameters have been added</a:t>
            </a:r>
            <a: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while all other arguments remain consistent with the R </a:t>
            </a:r>
            <a:r>
              <a:rPr lang="en-US" altLang="zh-CN" dirty="0">
                <a:solidFill>
                  <a:srgbClr val="000000"/>
                </a:solidFill>
                <a:latin typeface="Aptos" panose="020B0004020202020204" pitchFamily="34" charset="0"/>
              </a:rPr>
              <a:t>function</a:t>
            </a:r>
            <a: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  <a:b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US" altLang="zh-CN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1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cell_meta_observation_column</a:t>
            </a:r>
            <a:r>
              <a:rPr lang="en-US" altLang="zh-CN" b="1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required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b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Specifies the column in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obs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used as the identifier for cells. The default is "</a:t>
            </a:r>
            <a:r>
              <a:rPr lang="en-US" altLang="zh-CN" sz="160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_index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", which corresponds to how cell names are stored in</a:t>
            </a:r>
            <a:r>
              <a:rPr lang="en-US" altLang="zh-CN" sz="160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US" altLang="zh-CN" sz="1600" i="1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obs</a:t>
            </a:r>
            <a:r>
              <a:rPr lang="en-US" altLang="zh-CN" sz="160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/_index 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when converting from h5Seurat to h5ad. This parameter is necessary because the expression matrix in h5ad does not retain explicit row or column names, so external naming must be supplied.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US" altLang="zh-CN" sz="16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1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memory_size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</a:t>
            </a:r>
            <a:r>
              <a:rPr lang="en-US" altLang="zh-CN" b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required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br>
              <a:rPr lang="en-US" altLang="zh-CN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Defines the available memory for processing (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 GB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). The script uses this value to automatically choose between the full-loading (V1) and chunked (V2) strategy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 altLang="zh-CN" sz="16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1" dirty="0" err="1">
                <a:solidFill>
                  <a:srgbClr val="000000"/>
                </a:solidFill>
                <a:latin typeface="Aptos" panose="020B0004020202020204" pitchFamily="34" charset="0"/>
              </a:rPr>
              <a:t>cell_filter</a:t>
            </a:r>
            <a:r>
              <a:rPr lang="en-US" altLang="zh-CN" b="1" i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Aptos" panose="020B0004020202020204" pitchFamily="34" charset="0"/>
              </a:rPr>
              <a:t>(optional):</a:t>
            </a:r>
            <a:br>
              <a:rPr lang="en-US" altLang="zh-CN" b="1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Accepts an </a:t>
            </a:r>
            <a:r>
              <a:rPr lang="en-US" altLang="zh-CN" sz="1600" b="1" dirty="0">
                <a:solidFill>
                  <a:srgbClr val="000000"/>
                </a:solidFill>
                <a:latin typeface="Aptos" panose="020B0004020202020204" pitchFamily="34" charset="0"/>
              </a:rPr>
              <a:t>R-style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 logical expression as a string (e.g., "</a:t>
            </a:r>
            <a:r>
              <a:rPr lang="en-US" altLang="zh-CN" sz="1600" dirty="0" err="1">
                <a:solidFill>
                  <a:srgbClr val="000000"/>
                </a:solidFill>
                <a:latin typeface="Aptos" panose="020B0004020202020204" pitchFamily="34" charset="0"/>
              </a:rPr>
              <a:t>cell_type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 %in% c('B cell', 'T cell')"). Used to filter target cells.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 altLang="zh-CN" sz="16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1" dirty="0" err="1">
                <a:solidFill>
                  <a:srgbClr val="000000"/>
                </a:solidFill>
                <a:latin typeface="Aptos" panose="020B0004020202020204" pitchFamily="34" charset="0"/>
              </a:rPr>
              <a:t>downsample_cell_filter</a:t>
            </a:r>
            <a:r>
              <a:rPr lang="en-US" altLang="zh-CN" b="1" i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Aptos" panose="020B0004020202020204" pitchFamily="34" charset="0"/>
              </a:rPr>
              <a:t>(optional):</a:t>
            </a:r>
            <a:br>
              <a:rPr lang="en-US" altLang="zh-CN" sz="1600" b="1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Specifies which metadata fields to stratify the </a:t>
            </a:r>
            <a:r>
              <a:rPr lang="en-US" altLang="zh-CN" sz="1600" dirty="0" err="1">
                <a:solidFill>
                  <a:srgbClr val="000000"/>
                </a:solidFill>
                <a:latin typeface="Aptos" panose="020B0004020202020204" pitchFamily="34" charset="0"/>
              </a:rPr>
              <a:t>downsampling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 by, maintaining proportional representation across groups.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- accepts a list of column names (e.g., ["sample", "</a:t>
            </a:r>
            <a:r>
              <a:rPr lang="en-US" altLang="zh-CN" sz="1600" dirty="0" err="1">
                <a:solidFill>
                  <a:srgbClr val="000000"/>
                </a:solidFill>
                <a:latin typeface="Aptos" panose="020B0004020202020204" pitchFamily="34" charset="0"/>
              </a:rPr>
              <a:t>cell_type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"]).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- leave empty ([ ]) to perform random </a:t>
            </a:r>
            <a:r>
              <a:rPr lang="en-US" altLang="zh-CN" sz="1600" dirty="0" err="1">
                <a:solidFill>
                  <a:srgbClr val="000000"/>
                </a:solidFill>
                <a:latin typeface="Aptos" panose="020B0004020202020204" pitchFamily="34" charset="0"/>
              </a:rPr>
              <a:t>downsampling</a:t>
            </a: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 without stratification.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 altLang="zh-CN" sz="16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1" dirty="0" err="1">
                <a:solidFill>
                  <a:srgbClr val="000000"/>
                </a:solidFill>
                <a:latin typeface="Aptos" panose="020B0004020202020204" pitchFamily="34" charset="0"/>
              </a:rPr>
              <a:t>downsample_ratio</a:t>
            </a:r>
            <a:r>
              <a:rPr lang="en-US" altLang="zh-CN" b="1" i="1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Aptos" panose="020B0004020202020204" pitchFamily="34" charset="0"/>
              </a:rPr>
              <a:t>(optional):</a:t>
            </a:r>
            <a:br>
              <a:rPr lang="en-US" altLang="zh-CN" sz="1600" b="1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A float between 0 and 1 indicating the proportion of cells to retain.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- 1.0 means no </a:t>
            </a:r>
            <a:r>
              <a:rPr lang="en-US" altLang="zh-CN" sz="1600" dirty="0" err="1">
                <a:solidFill>
                  <a:srgbClr val="000000"/>
                </a:solidFill>
                <a:latin typeface="Aptos" panose="020B0004020202020204" pitchFamily="34" charset="0"/>
              </a:rPr>
              <a:t>downsampling</a:t>
            </a:r>
            <a:b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ptos" panose="020B0004020202020204" pitchFamily="34" charset="0"/>
              </a:rPr>
              <a:t>- values like 0.3 mean </a:t>
            </a:r>
            <a:r>
              <a:rPr lang="en-US" altLang="zh-CN" sz="1600" dirty="0"/>
              <a:t>retaining 30% of cells</a:t>
            </a:r>
            <a:endParaRPr lang="en-US" altLang="zh-CN" sz="160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6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9A7E-D213-C28A-94D4-510E51C2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25539E-1DDE-E75E-9328-44020E00D0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527"/>
          <a:stretch/>
        </p:blipFill>
        <p:spPr>
          <a:xfrm>
            <a:off x="461504" y="261887"/>
            <a:ext cx="6059774" cy="628761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45C34BF-A2B7-B35C-CA41-0CE6B5A05444}"/>
              </a:ext>
            </a:extLst>
          </p:cNvPr>
          <p:cNvSpPr/>
          <p:nvPr/>
        </p:nvSpPr>
        <p:spPr>
          <a:xfrm>
            <a:off x="665536" y="1152294"/>
            <a:ext cx="2193131" cy="4386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DB010B-B4F2-4A70-B8C5-05B99B5FE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135" y="4029376"/>
            <a:ext cx="886843" cy="848002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DC3C2645-173B-90C0-D708-4E734BA9FBC7}"/>
              </a:ext>
            </a:extLst>
          </p:cNvPr>
          <p:cNvGrpSpPr/>
          <p:nvPr/>
        </p:nvGrpSpPr>
        <p:grpSpPr>
          <a:xfrm>
            <a:off x="7175829" y="1274324"/>
            <a:ext cx="4350635" cy="4342108"/>
            <a:chOff x="7175829" y="1869057"/>
            <a:chExt cx="4350635" cy="4342108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0C21408-B199-8BC8-BB2B-2EF282F86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4311" y="1869057"/>
              <a:ext cx="4302153" cy="4189562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72EA85B-BD94-35DD-8B87-B24824BD3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75829" y="3841501"/>
              <a:ext cx="1904911" cy="2369664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D4508-74C3-D678-8327-062C606EBAAA}"/>
              </a:ext>
            </a:extLst>
          </p:cNvPr>
          <p:cNvSpPr/>
          <p:nvPr/>
        </p:nvSpPr>
        <p:spPr>
          <a:xfrm>
            <a:off x="7334518" y="2512309"/>
            <a:ext cx="1043189" cy="8480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ED9FF8-E68C-CDD9-C115-CC3578904EEF}"/>
              </a:ext>
            </a:extLst>
          </p:cNvPr>
          <p:cNvSpPr txBox="1"/>
          <p:nvPr/>
        </p:nvSpPr>
        <p:spPr>
          <a:xfrm>
            <a:off x="7334518" y="3396081"/>
            <a:ext cx="1228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default expression matrix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6893BA-3185-F7E5-BED9-C82861DC587B}"/>
              </a:ext>
            </a:extLst>
          </p:cNvPr>
          <p:cNvSpPr txBox="1"/>
          <p:nvPr/>
        </p:nvSpPr>
        <p:spPr>
          <a:xfrm>
            <a:off x="7039915" y="851084"/>
            <a:ext cx="491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An h5ad file typically has a three-layer structure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811EB-A601-37AA-55D6-55AA4965E488}"/>
              </a:ext>
            </a:extLst>
          </p:cNvPr>
          <p:cNvSpPr/>
          <p:nvPr/>
        </p:nvSpPr>
        <p:spPr>
          <a:xfrm>
            <a:off x="665537" y="2031550"/>
            <a:ext cx="1958718" cy="4386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24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0DA5-3E9F-9880-82AD-3335C35D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6566376-AB4E-A16E-AEFE-1D296B143C6D}"/>
              </a:ext>
            </a:extLst>
          </p:cNvPr>
          <p:cNvSpPr txBox="1"/>
          <p:nvPr/>
        </p:nvSpPr>
        <p:spPr>
          <a:xfrm>
            <a:off x="356143" y="509258"/>
            <a:ext cx="1062629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1) automatically </a:t>
            </a:r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g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enerate </a:t>
            </a:r>
            <a:r>
              <a:rPr lang="en-US" altLang="zh-CN" sz="2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Ensembl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 IDs from Gene Symbols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an additional function to generate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Ensembl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gene IDs from gene symbols (based on Version 130).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E89F20-BE52-F228-F4C4-8B6CB04C96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813"/>
          <a:stretch/>
        </p:blipFill>
        <p:spPr>
          <a:xfrm>
            <a:off x="430565" y="1320254"/>
            <a:ext cx="7707526" cy="17758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A2E911-D9F0-8206-A67A-263E277C5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449" y="1625054"/>
            <a:ext cx="3112847" cy="3814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48FEF7-3B11-3A78-7081-54601105F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65" y="3491053"/>
            <a:ext cx="5867231" cy="25373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D3DCD0-508A-E95D-D8BC-373BFF40DEF0}"/>
              </a:ext>
            </a:extLst>
          </p:cNvPr>
          <p:cNvSpPr txBox="1"/>
          <p:nvPr/>
        </p:nvSpPr>
        <p:spPr>
          <a:xfrm>
            <a:off x="6423104" y="4931376"/>
            <a:ext cx="56276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Some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lncRNAs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or pseudogenes can’t be converted into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Ensembl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IDs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→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marked as </a:t>
            </a: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null values 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→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either removed or replaced with 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“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NOensemblIDmapped.XX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”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1122A8-23B8-E3E1-4026-1DE32B67506B}"/>
              </a:ext>
            </a:extLst>
          </p:cNvPr>
          <p:cNvSpPr txBox="1"/>
          <p:nvPr/>
        </p:nvSpPr>
        <p:spPr>
          <a:xfrm>
            <a:off x="6423104" y="3558979"/>
            <a:ext cx="54269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For gene symbols with multiple corresponding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Ensembl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IDs 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→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automatically selects the one </a:t>
            </a: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with the smallest numeric 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, assuming that smaller IDs indicate earlier release versions.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05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A3B92A1-2FEA-2C5F-84F8-96193102C1FB}"/>
              </a:ext>
            </a:extLst>
          </p:cNvPr>
          <p:cNvSpPr txBox="1"/>
          <p:nvPr/>
        </p:nvSpPr>
        <p:spPr>
          <a:xfrm>
            <a:off x="368499" y="566426"/>
            <a:ext cx="1163561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2) Accept different formats of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expression matrix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There are three possible formats for the expression matrix stored in an h5ad file: </a:t>
            </a:r>
            <a:b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CSR, CSC, and dense matrix.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br>
              <a:rPr lang="en-US" altLang="zh-CN" dirty="0"/>
            </a:br>
            <a:r>
              <a:rPr lang="en-US" altLang="zh-CN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Among them, CSR is the most challenging to process</a:t>
            </a:r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, mainly due to two reasons. First, while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NeMO</a:t>
            </a:r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 requires the output to be in a </a:t>
            </a:r>
            <a:r>
              <a:rPr lang="en-US" altLang="zh-CN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gene × cell</a:t>
            </a:r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format, h5ad stores it as </a:t>
            </a:r>
            <a:r>
              <a:rPr lang="en-US" altLang="zh-CN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cell × gene</a:t>
            </a:r>
            <a: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. Second, due to the structure of CSR, data can only be accessed row-wise (i.e., per cell), which means a transposition is needed.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(V1) If memory is sufficient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: load the entire CSR matrix → convert it to CSS format → write by row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(V2) If memory is limited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: load the CSR matrix in chunks → convert each chunk into a dense matrix and transpose it, then write the results into separate sub-files → merge all sub-files by columns → add the header</a:t>
            </a: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72D4757-C1F8-FC5B-5C65-85C5C0CA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0" y="1547995"/>
            <a:ext cx="2412641" cy="14978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BC343EA-228B-72ED-B669-5AA9B0455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67" y="1555053"/>
            <a:ext cx="4082143" cy="148369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2948295-2A1F-6BE1-2B2F-10ADD588B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868" y="1562967"/>
            <a:ext cx="3729519" cy="15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2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FE4F-2BCF-B6AC-44BA-E583106B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053C51-3FFC-55C2-CA76-9E37762489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3"/>
          <a:stretch/>
        </p:blipFill>
        <p:spPr>
          <a:xfrm>
            <a:off x="461504" y="261887"/>
            <a:ext cx="8087764" cy="628761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57C01B-A50B-3BD4-E768-DC36D4DDBBC9}"/>
              </a:ext>
            </a:extLst>
          </p:cNvPr>
          <p:cNvSpPr/>
          <p:nvPr/>
        </p:nvSpPr>
        <p:spPr>
          <a:xfrm>
            <a:off x="665538" y="1607805"/>
            <a:ext cx="1534970" cy="4386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997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3176B-FB06-624B-ABBD-8CD04481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9EE1D3B-C388-017C-DF4F-6E0CE0FF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135" y="4029376"/>
            <a:ext cx="886843" cy="8480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B52CC9-4A91-76F6-BFAB-5B5B65E58AC3}"/>
              </a:ext>
            </a:extLst>
          </p:cNvPr>
          <p:cNvSpPr txBox="1"/>
          <p:nvPr/>
        </p:nvSpPr>
        <p:spPr>
          <a:xfrm>
            <a:off x="535258" y="51390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3) Support filtering based on cell information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D5E6E6-3F81-EBD1-7C0A-BEE2E1E8564F}"/>
              </a:ext>
            </a:extLst>
          </p:cNvPr>
          <p:cNvSpPr txBox="1"/>
          <p:nvPr/>
        </p:nvSpPr>
        <p:spPr>
          <a:xfrm>
            <a:off x="535258" y="1051284"/>
            <a:ext cx="9530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Accepts an R-style logical expression as a string. The following expressions have been tested 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10E7B36-DAEA-BE2F-BCD2-BE2EE4A2C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35" y="1557883"/>
            <a:ext cx="8859027" cy="41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2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9F1B77-07E5-7F8D-52E8-6885B02BC46C}"/>
              </a:ext>
            </a:extLst>
          </p:cNvPr>
          <p:cNvSpPr txBox="1"/>
          <p:nvPr/>
        </p:nvSpPr>
        <p:spPr>
          <a:xfrm>
            <a:off x="535258" y="51390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4) Support different </a:t>
            </a:r>
            <a:r>
              <a:rPr lang="en-US" altLang="zh-C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downsampling</a:t>
            </a:r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methods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DC2ADD-E3C2-F0BF-A97D-867D304B1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12" y="4066689"/>
            <a:ext cx="8594589" cy="55914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8D5BD8-448A-0F92-6A1B-9E2B6FC95380}"/>
              </a:ext>
            </a:extLst>
          </p:cNvPr>
          <p:cNvSpPr txBox="1"/>
          <p:nvPr/>
        </p:nvSpPr>
        <p:spPr>
          <a:xfrm>
            <a:off x="756273" y="3697357"/>
            <a:ext cx="660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stratified </a:t>
            </a:r>
            <a:r>
              <a:rPr lang="en-US" altLang="zh-CN" sz="1800" b="1" dirty="0" err="1"/>
              <a:t>downsampling</a:t>
            </a:r>
            <a:r>
              <a:rPr lang="en-US" altLang="zh-CN" sz="1800" b="1" dirty="0"/>
              <a:t> (based on ‘sample’ and ‘</a:t>
            </a:r>
            <a:r>
              <a:rPr lang="en-US" altLang="zh-CN" sz="1800" b="1" dirty="0" err="1"/>
              <a:t>cell_type</a:t>
            </a:r>
            <a:r>
              <a:rPr lang="en-US" altLang="zh-CN" sz="1800" b="1" dirty="0"/>
              <a:t>’)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0F0EDA-0D21-6B48-12DE-7D87DB72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12" y="2900641"/>
            <a:ext cx="7898063" cy="6008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EB355C-770C-2924-D591-0376946DD4B0}"/>
              </a:ext>
            </a:extLst>
          </p:cNvPr>
          <p:cNvSpPr txBox="1"/>
          <p:nvPr/>
        </p:nvSpPr>
        <p:spPr>
          <a:xfrm>
            <a:off x="756273" y="1343873"/>
            <a:ext cx="660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random </a:t>
            </a:r>
            <a:r>
              <a:rPr lang="en-US" altLang="zh-CN" sz="1800" b="1" dirty="0" err="1"/>
              <a:t>downsampling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9CA874-566E-989D-B2CD-E6804A591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12" y="1767448"/>
            <a:ext cx="6710431" cy="5712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0CB853C-EA08-B1B4-E18E-4C81522C1D88}"/>
              </a:ext>
            </a:extLst>
          </p:cNvPr>
          <p:cNvSpPr txBox="1"/>
          <p:nvPr/>
        </p:nvSpPr>
        <p:spPr>
          <a:xfrm>
            <a:off x="756273" y="2520615"/>
            <a:ext cx="660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stratified </a:t>
            </a:r>
            <a:r>
              <a:rPr lang="en-US" altLang="zh-CN" sz="1800" b="1" dirty="0" err="1"/>
              <a:t>downsampling</a:t>
            </a:r>
            <a:r>
              <a:rPr lang="en-US" altLang="zh-CN" sz="1800" b="1" dirty="0"/>
              <a:t> (based on ‘sample’)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2884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A84C-0310-8795-B779-68022405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607773BD-69E2-71CD-9823-799547E7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60" y="675274"/>
            <a:ext cx="8975733" cy="584942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A7B4460-FA40-6677-3841-D1DB714973FB}"/>
              </a:ext>
            </a:extLst>
          </p:cNvPr>
          <p:cNvSpPr txBox="1"/>
          <p:nvPr/>
        </p:nvSpPr>
        <p:spPr>
          <a:xfrm>
            <a:off x="557562" y="13324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5) Suggested memory allocation: 50–100 GB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09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1033</Words>
  <Application>Microsoft Office PowerPoint</Application>
  <PresentationFormat>宽屏</PresentationFormat>
  <Paragraphs>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Qingjie Yu</dc:creator>
  <cp:lastModifiedBy>Qingjie Yu</cp:lastModifiedBy>
  <cp:revision>22</cp:revision>
  <dcterms:created xsi:type="dcterms:W3CDTF">2025-05-23T17:59:08Z</dcterms:created>
  <dcterms:modified xsi:type="dcterms:W3CDTF">2025-07-02T22:36:20Z</dcterms:modified>
</cp:coreProperties>
</file>